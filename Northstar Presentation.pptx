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46520" y="1645920"/>
            <a:ext cx="822960" cy="822960"/>
          </a:xfrm>
          <a:prstGeom prst="ellipse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24825" y="1993429"/>
            <a:ext cx="822960" cy="822960"/>
          </a:xfrm>
          <a:prstGeom prst="ellipse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42129" y="2555711"/>
            <a:ext cx="822960" cy="822960"/>
          </a:xfrm>
          <a:prstGeom prst="ellipse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50911" y="2555711"/>
            <a:ext cx="822960" cy="822960"/>
          </a:xfrm>
          <a:prstGeom prst="ellipse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68215" y="1993429"/>
            <a:ext cx="822960" cy="822960"/>
          </a:xfrm>
          <a:prstGeom prst="ellipse">
            <a:avLst/>
          </a:prstGeom>
          <a:solidFill>
            <a:srgbClr val="B8860B">
              <a:alpha val="3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2148840"/>
            <a:ext cx="822960" cy="822960"/>
          </a:xfrm>
          <a:prstGeom prst="ellipse">
            <a:avLst/>
          </a:prstGeom>
          <a:solidFill>
            <a:srgbClr val="B8860B">
              <a:alpha val="70000"/>
            </a:srgbClr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8912" y="685800"/>
            <a:ext cx="45720" cy="365760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5836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 WEALTH  |  ANDREW LOUIS GLEN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105156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Northstar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640080" y="178308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i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Five-Point Plan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40080" y="2743200"/>
            <a:ext cx="5669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Intentional. Aligned. Built for you.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218688"/>
            <a:ext cx="4114800" cy="27432"/>
          </a:xfrm>
          <a:prstGeom prst="rect">
            <a:avLst/>
          </a:prstGeom>
          <a:solidFill>
            <a:srgbClr val="B8860B">
              <a:alpha val="60000"/>
            </a:srgbClr>
          </a:solidFill>
          <a:ln w="12700">
            <a:solidFill>
              <a:srgbClr val="B8860B">
                <a:alpha val="6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 about your financial life — on your terms.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rot="2700000">
            <a:off x="8641080" y="91440"/>
            <a:ext cx="320040" cy="3200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8508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 |  ALG Wealth  |  Andrew Louis Glen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685800"/>
            <a:ext cx="3931920" cy="38404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685800"/>
            <a:ext cx="3931920" cy="6400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86868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people don't have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financial plan.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173736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have a collection of products.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331720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clear picture of what they own or why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2642616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261518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five-year focus — reacting, not planning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2953512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926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that was sold, not designed to fit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" y="3264408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3236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 gaps nobody has talked about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3575304"/>
            <a:ext cx="45720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35478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C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estate that doesn't reflect their wishes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685800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0" y="685800"/>
            <a:ext cx="54864" cy="60350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0016" y="722376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know exactly what you own and why?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0" y="1362456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0" y="1362456"/>
            <a:ext cx="54864" cy="60350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1399032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actually focused on for the next five years?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0" y="2039112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572000" y="2039112"/>
            <a:ext cx="54864" cy="60350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2075688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portfolio fit who you actually are as an investor?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572000" y="2715768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572000" y="2715768"/>
            <a:ext cx="54864" cy="60350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0016" y="2752344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something happened tomorrow, is your family protected?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72000" y="3392424"/>
            <a:ext cx="416052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3392424"/>
            <a:ext cx="54864" cy="603504"/>
          </a:xfrm>
          <a:prstGeom prst="rect">
            <a:avLst/>
          </a:prstGeom>
          <a:solidFill>
            <a:srgbClr val="1A7A2A"/>
          </a:solidFill>
          <a:ln w="12700">
            <a:solidFill>
              <a:srgbClr val="1A7A2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0016" y="3429000"/>
            <a:ext cx="391363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estate plan reflect what you actually want?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8508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 |  ALG Wealth  |  Andrew Louis Glen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640080" y="50292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WAY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Honesty. Clarity. Simple.
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Easy to follow.
</a:t>
            </a:r>
            <a:pPr indent="0" marL="0">
              <a:buNone/>
            </a:pPr>
            <a:r>
              <a:rPr lang="en-US" sz="3600" b="1" i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you need.
</a:t>
            </a:r>
            <a:pPr indent="0" marL="0">
              <a:buNone/>
            </a:pPr>
            <a:r>
              <a:rPr lang="en-US" sz="3600" b="1" i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Nothing you don't.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" y="3364992"/>
            <a:ext cx="32004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493008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Northstar plan is not a product presentation.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conversation about your life, your priorities,</a:t>
            </a:r>
            <a:endParaRPr lang="en-US" sz="1250" dirty="0"/>
          </a:p>
          <a:p>
            <a:pPr indent="0" marL="0">
              <a:buNone/>
            </a:pPr>
            <a:r>
              <a:rPr lang="en-US" sz="12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what a great financial plan looks and feels like for you.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822960"/>
            <a:ext cx="2331720" cy="1188720"/>
          </a:xfrm>
          <a:prstGeom prst="rect">
            <a:avLst/>
          </a:prstGeom>
          <a:solidFill>
            <a:srgbClr val="132A5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822960"/>
            <a:ext cx="233172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01968" y="93268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listen first.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601968" y="122529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plan starts with understanding you — not a risk questionnaire.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2148840"/>
            <a:ext cx="2331720" cy="1188720"/>
          </a:xfrm>
          <a:prstGeom prst="rect">
            <a:avLst/>
          </a:prstGeom>
          <a:solidFill>
            <a:srgbClr val="132A5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92240" y="2148840"/>
            <a:ext cx="233172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225856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fit the plan to you.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01968" y="255117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template. Not what everyone else has. Yours.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92240" y="3474720"/>
            <a:ext cx="2331720" cy="1188720"/>
          </a:xfrm>
          <a:prstGeom prst="rect">
            <a:avLst/>
          </a:prstGeom>
          <a:solidFill>
            <a:srgbClr val="132A50"/>
          </a:solidFill>
          <a:ln w="12700">
            <a:solidFill>
              <a:srgbClr val="1E3D6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3474720"/>
            <a:ext cx="233172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3584448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stay with you.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01968" y="3877056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reviews. Proactive contact. You always know the next step.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NORTHSTAR FIVE-POINT PLAN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rot="2700000">
            <a:off x="8641080" y="91440"/>
            <a:ext cx="320040" cy="3200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8508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 |  ALG Wealth  |  Andrew Louis Glen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6217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dimensions. One complete plan.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1609344" cy="3456432"/>
          </a:xfrm>
          <a:prstGeom prst="rect">
            <a:avLst/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078992"/>
            <a:ext cx="1609344" cy="2011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280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48640" y="1938528"/>
            <a:ext cx="1335024" cy="22860"/>
          </a:xfrm>
          <a:prstGeom prst="rect">
            <a:avLst/>
          </a:prstGeom>
          <a:solidFill>
            <a:srgbClr val="1565C0">
              <a:alpha val="50000"/>
            </a:srgbClr>
          </a:solidFill>
          <a:ln w="12700">
            <a:solidFill>
              <a:srgbClr val="1565C0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1975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4632" y="23408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Client Care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2889504"/>
            <a:ext cx="142646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you own, why you own it, and always have a clear next step.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075688" y="1078992"/>
            <a:ext cx="1609344" cy="3456432"/>
          </a:xfrm>
          <a:prstGeom prst="rect">
            <a:avLst/>
          </a:prstGeom>
          <a:solidFill>
            <a:srgbClr val="FDF6E3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075688" y="1078992"/>
            <a:ext cx="1609344" cy="201168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75688" y="1280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4200" dirty="0"/>
          </a:p>
        </p:txBody>
      </p:sp>
      <p:sp>
        <p:nvSpPr>
          <p:cNvPr id="20" name="Shape 18"/>
          <p:cNvSpPr/>
          <p:nvPr/>
        </p:nvSpPr>
        <p:spPr>
          <a:xfrm>
            <a:off x="2212848" y="1938528"/>
            <a:ext cx="1335024" cy="22860"/>
          </a:xfrm>
          <a:prstGeom prst="rect">
            <a:avLst/>
          </a:prstGeom>
          <a:solidFill>
            <a:srgbClr val="B8860B">
              <a:alpha val="50000"/>
            </a:srgbClr>
          </a:solidFill>
          <a:ln w="12700">
            <a:solidFill>
              <a:srgbClr val="B8860B">
                <a:alpha val="5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48840" y="1975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48840" y="23408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167128" y="2889504"/>
            <a:ext cx="142646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Five-Year Lens. Intentional, not reactive.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739896" y="1078992"/>
            <a:ext cx="1609344" cy="3456432"/>
          </a:xfrm>
          <a:prstGeom prst="rect">
            <a:avLst/>
          </a:prstGeom>
          <a:solidFill>
            <a:srgbClr val="E8F7F7"/>
          </a:solidFill>
          <a:ln w="1905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39896" y="1078992"/>
            <a:ext cx="1609344" cy="2011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39896" y="1280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737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4200" dirty="0"/>
          </a:p>
        </p:txBody>
      </p:sp>
      <p:sp>
        <p:nvSpPr>
          <p:cNvPr id="27" name="Shape 25"/>
          <p:cNvSpPr/>
          <p:nvPr/>
        </p:nvSpPr>
        <p:spPr>
          <a:xfrm>
            <a:off x="3877056" y="1938528"/>
            <a:ext cx="1335024" cy="22860"/>
          </a:xfrm>
          <a:prstGeom prst="rect">
            <a:avLst/>
          </a:prstGeom>
          <a:solidFill>
            <a:srgbClr val="0D7377">
              <a:alpha val="50000"/>
            </a:srgbClr>
          </a:solidFill>
          <a:ln w="12700">
            <a:solidFill>
              <a:srgbClr val="0D7377">
                <a:alpha val="5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13048" y="1975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13048" y="23408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Philosophy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831336" y="2889504"/>
            <a:ext cx="142646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strategy designed to fit you — not a template.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04104" y="1078992"/>
            <a:ext cx="1609344" cy="3456432"/>
          </a:xfrm>
          <a:prstGeom prst="rect">
            <a:avLst/>
          </a:prstGeom>
          <a:solidFill>
            <a:srgbClr val="F3E8FD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04104" y="1078992"/>
            <a:ext cx="1609344" cy="2011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04104" y="1280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200" dirty="0"/>
          </a:p>
        </p:txBody>
      </p:sp>
      <p:sp>
        <p:nvSpPr>
          <p:cNvPr id="34" name="Shape 32"/>
          <p:cNvSpPr/>
          <p:nvPr/>
        </p:nvSpPr>
        <p:spPr>
          <a:xfrm>
            <a:off x="5541264" y="1938528"/>
            <a:ext cx="1335024" cy="22860"/>
          </a:xfrm>
          <a:prstGeom prst="rect">
            <a:avLst/>
          </a:prstGeom>
          <a:solidFill>
            <a:srgbClr val="6A1B9A">
              <a:alpha val="50000"/>
            </a:srgbClr>
          </a:solidFill>
          <a:ln w="12700">
            <a:solidFill>
              <a:srgbClr val="6A1B9A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477256" y="1975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77256" y="23408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495544" y="2889504"/>
            <a:ext cx="142646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when life is uncertain. Protection that makes sense.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068312" y="1078992"/>
            <a:ext cx="1609344" cy="3456432"/>
          </a:xfrm>
          <a:prstGeom prst="rect">
            <a:avLst/>
          </a:prstGeom>
          <a:solidFill>
            <a:srgbClr val="E8F5EB"/>
          </a:solidFill>
          <a:ln w="19050">
            <a:solidFill>
              <a:srgbClr val="1A7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068312" y="1078992"/>
            <a:ext cx="1609344" cy="201168"/>
          </a:xfrm>
          <a:prstGeom prst="rect">
            <a:avLst/>
          </a:prstGeom>
          <a:solidFill>
            <a:srgbClr val="1A7A2A"/>
          </a:solidFill>
          <a:ln w="12700">
            <a:solidFill>
              <a:srgbClr val="1A7A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68312" y="1280160"/>
            <a:ext cx="16093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A7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4200" dirty="0"/>
          </a:p>
        </p:txBody>
      </p:sp>
      <p:sp>
        <p:nvSpPr>
          <p:cNvPr id="41" name="Shape 39"/>
          <p:cNvSpPr/>
          <p:nvPr/>
        </p:nvSpPr>
        <p:spPr>
          <a:xfrm>
            <a:off x="7205472" y="1938528"/>
            <a:ext cx="1335024" cy="22860"/>
          </a:xfrm>
          <a:prstGeom prst="rect">
            <a:avLst/>
          </a:prstGeom>
          <a:solidFill>
            <a:srgbClr val="1A7A2A">
              <a:alpha val="50000"/>
            </a:srgbClr>
          </a:solidFill>
          <a:ln w="12700">
            <a:solidFill>
              <a:srgbClr val="1A7A2A">
                <a:alpha val="5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41464" y="1975104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1A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141464" y="2340864"/>
            <a:ext cx="1463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159752" y="2889504"/>
            <a:ext cx="1426464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what you owned. The footprint you leave behind.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1 &amp; 2 — CLARITY AND FOCUS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rot="2700000">
            <a:off x="8641080" y="91440"/>
            <a:ext cx="320040" cy="3200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8508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 |  ALG Wealth  |  Andrew Louis Glen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658368"/>
            <a:ext cx="4023360" cy="3931920"/>
          </a:xfrm>
          <a:prstGeom prst="rect">
            <a:avLst/>
          </a:prstGeom>
          <a:solidFill>
            <a:srgbClr val="E3F0FF"/>
          </a:solidFill>
          <a:ln w="1905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658368"/>
            <a:ext cx="4023360" cy="54864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713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565C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49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005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&amp; Client Care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1371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"Understand what you own,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you own it, and always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 the next step."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2450592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4140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a clear picture of your financial life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75234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has a purpose you understand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27248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090672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that works for you — not us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465576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42900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know what happens next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658368"/>
            <a:ext cx="4023360" cy="3931920"/>
          </a:xfrm>
          <a:prstGeom prst="rect">
            <a:avLst/>
          </a:prstGeom>
          <a:solidFill>
            <a:srgbClr val="FDF6E3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658368"/>
            <a:ext cx="402336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713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212080" y="749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1005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Stage Strategy — The Five-Year Lens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1371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"Years go by. Life happens.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Let's make the next five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intentional."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46320" y="2450592"/>
            <a:ext cx="128016" cy="128016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241401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clear five-year vision — in your own words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788920"/>
            <a:ext cx="128016" cy="128016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275234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specific focus areas you own and review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127248"/>
            <a:ext cx="128016" cy="128016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3090672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milestones that actually mean something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465576"/>
            <a:ext cx="128016" cy="128016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65776" y="342900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that is about your life, not just your money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8508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 |  ALG Wealth  |  Andrew Louis Glen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943600" y="-365760"/>
            <a:ext cx="3657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0" b="1" dirty="0">
                <a:solidFill>
                  <a:srgbClr val="132A5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0" dirty="0"/>
          </a:p>
        </p:txBody>
      </p:sp>
      <p:sp>
        <p:nvSpPr>
          <p:cNvPr id="7" name="Text 5"/>
          <p:cNvSpPr/>
          <p:nvPr/>
        </p:nvSpPr>
        <p:spPr>
          <a:xfrm>
            <a:off x="502920" y="384048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FIT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02920" y="896112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Investment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" y="1993392"/>
            <a:ext cx="5669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"An investment strategy designed</a:t>
            </a:r>
            <a:endParaRPr lang="en-US" sz="1800" dirty="0"/>
          </a:p>
          <a:p>
            <a:pPr indent="0" marL="0">
              <a:buNone/>
            </a:pPr>
            <a:r>
              <a:rPr lang="en-US" sz="1800" i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fit you — and no one else."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02920" y="2907792"/>
            <a:ext cx="27432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358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spc="100" kern="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first.  Returns second.  Discipline always.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493008"/>
            <a:ext cx="2697480" cy="1280160"/>
          </a:xfrm>
          <a:prstGeom prst="rect">
            <a:avLst/>
          </a:prstGeom>
          <a:solidFill>
            <a:srgbClr val="132A50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3493008"/>
            <a:ext cx="269748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3602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quiz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" y="389534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conversation about how you actually think and feel about money.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3493008"/>
            <a:ext cx="2697480" cy="1280160"/>
          </a:xfrm>
          <a:prstGeom prst="rect">
            <a:avLst/>
          </a:prstGeom>
          <a:solidFill>
            <a:srgbClr val="132A50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3493008"/>
            <a:ext cx="269748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02152" y="3602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risk score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502152" y="389534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philosophy built around the experience you want — not a number.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493008"/>
            <a:ext cx="2697480" cy="1280160"/>
          </a:xfrm>
          <a:prstGeom prst="rect">
            <a:avLst/>
          </a:prstGeom>
          <a:solidFill>
            <a:srgbClr val="132A50"/>
          </a:solidFill>
          <a:ln w="12700">
            <a:solidFill>
              <a:srgbClr val="0D73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63640" y="3493008"/>
            <a:ext cx="2697480" cy="457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6027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template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82512" y="3895344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portfolio that fits like a glove. Because it was designed to.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4 &amp; 5 — STABILITY AND LEGACY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rot="2700000">
            <a:off x="8641080" y="91440"/>
            <a:ext cx="320040" cy="3200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8508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 |  ALG Wealth  |  Andrew Louis Glen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1480" y="658368"/>
            <a:ext cx="4023360" cy="3931920"/>
          </a:xfrm>
          <a:prstGeom prst="rect">
            <a:avLst/>
          </a:prstGeom>
          <a:solidFill>
            <a:srgbClr val="F3E8FD"/>
          </a:solidFill>
          <a:ln w="1905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658368"/>
            <a:ext cx="4023360" cy="54864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713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14400" y="749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1005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1371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"Creating stability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life</a:t>
            </a:r>
            <a:endParaRPr lang="en-US" sz="1600" dirty="0"/>
          </a:p>
          <a:p>
            <a:pPr indent="0" marL="0">
              <a:buNone/>
            </a:pPr>
            <a:r>
              <a:rPr lang="en-US" sz="16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uncertain."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468880"/>
            <a:ext cx="128016" cy="12801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243230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 that covers what actually matters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807208"/>
            <a:ext cx="128016" cy="12801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" y="2770632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illness — the financial cost of surviving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145536"/>
            <a:ext cx="128016" cy="12801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" y="310896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Disability — protecting your income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3483864"/>
            <a:ext cx="128016" cy="12801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44728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plan that holds even when life doesn't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709160" y="658368"/>
            <a:ext cx="4023360" cy="3931920"/>
          </a:xfrm>
          <a:prstGeom prst="rect">
            <a:avLst/>
          </a:prstGeom>
          <a:solidFill>
            <a:srgbClr val="E8F5EB"/>
          </a:solidFill>
          <a:ln w="19050">
            <a:solidFill>
              <a:srgbClr val="1A7A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658368"/>
            <a:ext cx="4023360" cy="54864"/>
          </a:xfrm>
          <a:prstGeom prst="rect">
            <a:avLst/>
          </a:prstGeom>
          <a:solidFill>
            <a:srgbClr val="1A7A2A"/>
          </a:solidFill>
          <a:ln w="12700">
            <a:solidFill>
              <a:srgbClr val="1A7A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713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7A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5212080" y="74980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A7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12080" y="10058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Strategy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1371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"Legacy is not what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owned. It is the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footprint you leave</a:t>
            </a:r>
            <a:endParaRPr lang="en-US" sz="1500" dirty="0"/>
          </a:p>
          <a:p>
            <a:pPr indent="0" marL="0">
              <a:buNone/>
            </a:pPr>
            <a:r>
              <a:rPr lang="en-US" sz="15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behind."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4846320" y="2542032"/>
            <a:ext cx="128016" cy="128016"/>
          </a:xfrm>
          <a:prstGeom prst="ellipse">
            <a:avLst/>
          </a:prstGeom>
          <a:solidFill>
            <a:srgbClr val="1A7A2A"/>
          </a:solidFill>
          <a:ln w="12700">
            <a:solidFill>
              <a:srgbClr val="1A7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65776" y="2505456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will that actually reflects your wishes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2871216"/>
            <a:ext cx="128016" cy="128016"/>
          </a:xfrm>
          <a:prstGeom prst="ellipse">
            <a:avLst/>
          </a:prstGeom>
          <a:solidFill>
            <a:srgbClr val="1A7A2A"/>
          </a:solidFill>
          <a:ln w="12700">
            <a:solidFill>
              <a:srgbClr val="1A7A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2834640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of attorney — both types, properly done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846320" y="3200400"/>
            <a:ext cx="128016" cy="128016"/>
          </a:xfrm>
          <a:prstGeom prst="ellipse">
            <a:avLst/>
          </a:prstGeom>
          <a:solidFill>
            <a:srgbClr val="1A7A2A"/>
          </a:solidFill>
          <a:ln w="12700">
            <a:solidFill>
              <a:srgbClr val="1A7A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65776" y="3163824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Estate documents reviewed and current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46320" y="3529584"/>
            <a:ext cx="128016" cy="128016"/>
          </a:xfrm>
          <a:prstGeom prst="ellipse">
            <a:avLst/>
          </a:prstGeom>
          <a:solidFill>
            <a:srgbClr val="1A7A2A"/>
          </a:solidFill>
          <a:ln w="12700">
            <a:solidFill>
              <a:srgbClr val="1A7A2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65776" y="3493008"/>
            <a:ext cx="3511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conversations that matter — while they can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WORKING TOGETHER LOOKS LIKE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rot="2700000">
            <a:off x="8641080" y="91440"/>
            <a:ext cx="320040" cy="3200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8508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 |  ALG Wealth  |  Andrew Louis Glen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621792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Simple. Consistent. Always moving forward.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11480" y="1078992"/>
            <a:ext cx="3977640" cy="3547872"/>
          </a:xfrm>
          <a:prstGeom prst="rect">
            <a:avLst/>
          </a:prstGeom>
          <a:solidFill>
            <a:srgbClr val="EEF2FA"/>
          </a:solidFill>
          <a:ln w="19050">
            <a:solidFill>
              <a:srgbClr val="0B25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078992"/>
            <a:ext cx="3977640" cy="25603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" y="1417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Impact 5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21208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rocks — always moving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" y="2103120"/>
            <a:ext cx="3291840" cy="27432"/>
          </a:xfrm>
          <a:prstGeom prst="rect">
            <a:avLst/>
          </a:prstGeom>
          <a:solidFill>
            <a:srgbClr val="0B2545">
              <a:alpha val="40000"/>
            </a:srgbClr>
          </a:solidFill>
          <a:ln w="12700">
            <a:solidFill>
              <a:srgbClr val="0B2545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267712"/>
            <a:ext cx="118872" cy="118872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22311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top 5 priorities — reviewed and moving each week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2743200"/>
            <a:ext cx="118872" cy="118872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27066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client falls through the cracks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218688"/>
            <a:ext cx="118872" cy="118872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0664" y="31821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 clear next step for every relationship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694176"/>
            <a:ext cx="118872" cy="118872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0664" y="36576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not reactive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754880" y="1078992"/>
            <a:ext cx="3977640" cy="3547872"/>
          </a:xfrm>
          <a:prstGeom prst="rect">
            <a:avLst/>
          </a:prstGeom>
          <a:solidFill>
            <a:srgbClr val="FDF6E3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1078992"/>
            <a:ext cx="3977640" cy="25603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141732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860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Annual Review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864608" y="1792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reset — every year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864608" y="2103120"/>
            <a:ext cx="3291840" cy="27432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>
                <a:alpha val="4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92040" y="2267712"/>
            <a:ext cx="118872" cy="11887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84064" y="2231136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five-point review — where are you now?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892040" y="2743200"/>
            <a:ext cx="118872" cy="11887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84064" y="2706624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on last year's commitments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892040" y="3218688"/>
            <a:ext cx="118872" cy="11887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84064" y="3182112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changed in your life or plan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4892040" y="3694176"/>
            <a:ext cx="118872" cy="118872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84064" y="3657600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commitments made — in writing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11480" y="4663440"/>
            <a:ext cx="8321040" cy="1828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464515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always know where you are. You always know the next step. Nothing falls through the cracks.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8508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 |  ALG Wealth  |  Andrew Louis Glen  |  Confidential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59536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132320" y="457200"/>
            <a:ext cx="2286000" cy="2286000"/>
          </a:xfrm>
          <a:prstGeom prst="ellipse">
            <a:avLst/>
          </a:prstGeom>
          <a:solidFill>
            <a:srgbClr val="B8860B">
              <a:alpha val="15000"/>
            </a:srgbClr>
          </a:solidFill>
          <a:ln w="12700">
            <a:solidFill>
              <a:srgbClr val="B8860B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06640" y="731520"/>
            <a:ext cx="1828800" cy="1828800"/>
          </a:xfrm>
          <a:prstGeom prst="ellipse">
            <a:avLst/>
          </a:prstGeom>
          <a:solidFill>
            <a:srgbClr val="B8860B">
              <a:alpha val="10000"/>
            </a:srgbClr>
          </a:solidFill>
          <a:ln w="12700">
            <a:solidFill>
              <a:srgbClr val="B8860B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1005840"/>
            <a:ext cx="1371600" cy="1371600"/>
          </a:xfrm>
          <a:prstGeom prst="ellipse">
            <a:avLst/>
          </a:prstGeom>
          <a:solidFill>
            <a:srgbClr val="B8860B">
              <a:alpha val="5000"/>
            </a:srgbClr>
          </a:solidFill>
          <a:ln w="12700">
            <a:solidFill>
              <a:srgbClr val="B8860B">
                <a:alpha val="1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0292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914400"/>
            <a:ext cx="685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"Rhythms of your life,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harmony."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40080" y="2176272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"Everything taken care of.</a:t>
            </a:r>
            <a:endParaRPr lang="en-US" sz="2600" dirty="0"/>
          </a:p>
          <a:p>
            <a:pPr indent="0" marL="0">
              <a:buNone/>
            </a:pPr>
            <a:r>
              <a:rPr lang="en-US" sz="2600" i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Everything in place."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40080" y="3218688"/>
            <a:ext cx="32004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38328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is what we are building together.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"/>
            <a:ext cx="9144000" cy="3657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0D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STEP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 rot="2700000">
            <a:off x="8641080" y="91440"/>
            <a:ext cx="320040" cy="320040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4850892"/>
            <a:ext cx="9144000" cy="2926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48508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Northstar  |  ALG Wealth  |  Andrew Louis Glen  |  Confidential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595360" y="48508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AA3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6400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conversation. No pressure. No obligation.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11480" y="1115568"/>
            <a:ext cx="5029200" cy="3566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11480" y="1115568"/>
            <a:ext cx="502920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24358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first conversation looks like: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17373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17190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listen.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97280" y="1993392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talk. We ask questions. No agenda.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94360" y="239572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23774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assess.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26517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are you now across the five Northstar points?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94360" y="305409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303580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reflect.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3310128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what we heard match what you said? Alignment check.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4360" y="37124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D08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97280" y="369417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decide together.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396849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ABB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the right fit? If yes, we build the plan.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623560" y="1115568"/>
            <a:ext cx="3108960" cy="3566160"/>
          </a:xfrm>
          <a:prstGeom prst="rect">
            <a:avLst/>
          </a:prstGeom>
          <a:solidFill>
            <a:srgbClr val="FDF6E3"/>
          </a:solidFill>
          <a:ln w="19050">
            <a:solidFill>
              <a:srgbClr val="B886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623560" y="1115568"/>
            <a:ext cx="3108960" cy="54864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12618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Andrew Louis Glen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760720" y="164592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 Wealth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1993392"/>
            <a:ext cx="2560320" cy="22860"/>
          </a:xfrm>
          <a:prstGeom prst="rect">
            <a:avLst/>
          </a:prstGeom>
          <a:solidFill>
            <a:srgbClr val="B8860B">
              <a:alpha val="50000"/>
            </a:srgbClr>
          </a:solidFill>
          <a:ln w="12700">
            <a:solidFill>
              <a:srgbClr val="B8860B">
                <a:alpha val="5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21031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 do not sell anything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do not want or need.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plan makes sense,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do it.</a:t>
            </a: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it doesn't, we don't."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760720" y="35844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Andrew Glen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14400" y="4626864"/>
            <a:ext cx="128016" cy="128016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7280" y="46085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Clarity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77440" y="4626864"/>
            <a:ext cx="128016" cy="128016"/>
          </a:xfrm>
          <a:prstGeom prst="ellipse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560320" y="46085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840480" y="4626864"/>
            <a:ext cx="128016" cy="128016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46085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303520" y="4626864"/>
            <a:ext cx="128016" cy="128016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0" y="46085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766560" y="4626864"/>
            <a:ext cx="128016" cy="128016"/>
          </a:xfrm>
          <a:prstGeom prst="ellipse">
            <a:avLst/>
          </a:prstGeom>
          <a:solidFill>
            <a:srgbClr val="1A7A2A"/>
          </a:solidFill>
          <a:ln w="12700">
            <a:solidFill>
              <a:srgbClr val="1A7A2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949440" y="460857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Legacy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Northstar Five-Point Plan</dc:title>
  <dc:subject>A different way to think about your financial life</dc:subject>
  <dc:creator>Andrew Louis Glen — ALG Wealth</dc:creator>
  <cp:lastModifiedBy>Andrew Louis Glen — ALG Wealth</cp:lastModifiedBy>
  <cp:revision>1</cp:revision>
  <dcterms:created xsi:type="dcterms:W3CDTF">2026-03-25T18:48:30Z</dcterms:created>
  <dcterms:modified xsi:type="dcterms:W3CDTF">2026-03-25T18:48:30Z</dcterms:modified>
</cp:coreProperties>
</file>